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1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819-48B2-9447-CC17DA608127}"/>
              </c:ext>
            </c:extLst>
          </c:dPt>
          <c:dPt>
            <c:idx val="1"/>
            <c:bubble3D val="0"/>
            <c:spPr>
              <a:solidFill>
                <a:srgbClr val="E848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819-48B2-9447-CC17DA60812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819-48B2-9447-CC17DA60812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819-48B2-9447-CC17DA60812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Normal (label=0)</c:v>
                </c:pt>
                <c:pt idx="1">
                  <c:v>Deadlock-like (label=1)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228546</c:v>
                </c:pt>
                <c:pt idx="1">
                  <c:v>72098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19-48B2-9447-CC17DA6081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9D6D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03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Drop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execution_duration_sec</c:v>
                </c:pt>
                <c:pt idx="1">
                  <c:v>scheduling_delay_sec</c:v>
                </c:pt>
                <c:pt idx="2">
                  <c:v>resource_overcommit</c:v>
                </c:pt>
                <c:pt idx="3">
                  <c:v>concurrency_density</c:v>
                </c:pt>
                <c:pt idx="4">
                  <c:v>priority_inversion</c:v>
                </c:pt>
                <c:pt idx="5">
                  <c:v>machine_failure_rate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5.8999999999999997E-2</c:v>
                </c:pt>
                <c:pt idx="1">
                  <c:v>2.2800000000000001E-2</c:v>
                </c:pt>
                <c:pt idx="2">
                  <c:v>1.89E-2</c:v>
                </c:pt>
                <c:pt idx="3">
                  <c:v>1.8800000000000001E-2</c:v>
                </c:pt>
                <c:pt idx="4">
                  <c:v>1.8700000000000001E-2</c:v>
                </c:pt>
                <c:pt idx="5">
                  <c:v>1.38E-2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0F-4457-9E9F-EB28B9F3A0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 Drop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execution_duration_sec</c:v>
                </c:pt>
                <c:pt idx="1">
                  <c:v>scheduling_delay_sec</c:v>
                </c:pt>
                <c:pt idx="2">
                  <c:v>resource_overcommit</c:v>
                </c:pt>
                <c:pt idx="3">
                  <c:v>concurrency_density</c:v>
                </c:pt>
                <c:pt idx="4">
                  <c:v>priority_inversion</c:v>
                </c:pt>
                <c:pt idx="5">
                  <c:v>machine_failure_rate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5.8500000000000003E-2</c:v>
                </c:pt>
                <c:pt idx="1">
                  <c:v>2.01E-2</c:v>
                </c:pt>
                <c:pt idx="2">
                  <c:v>1.7500000000000002E-2</c:v>
                </c:pt>
                <c:pt idx="3">
                  <c:v>1.9E-2</c:v>
                </c:pt>
                <c:pt idx="4">
                  <c:v>1.8200000000000001E-2</c:v>
                </c:pt>
                <c:pt idx="5">
                  <c:v>1.6400000000000001E-2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0F-4457-9E9F-EB28B9F3A0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9D6D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6D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C9D6D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03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ln w="31750" cap="flat">
              <a:solidFill>
                <a:srgbClr val="0F717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7173"/>
              </a:solidFill>
              <a:ln w="9525" cap="flat">
                <a:solidFill>
                  <a:srgbClr val="0F717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71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0.83630000000000004</c:v>
                </c:pt>
                <c:pt idx="1">
                  <c:v>0.83220000000000005</c:v>
                </c:pt>
                <c:pt idx="2">
                  <c:v>0.83020000000000005</c:v>
                </c:pt>
                <c:pt idx="3">
                  <c:v>0.83150000000000002</c:v>
                </c:pt>
                <c:pt idx="4">
                  <c:v>0.82940000000000003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2C4-43A0-A9D2-A55736688A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4"/>
          <c:min val="0.8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589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F7173">
              <a:alpha val="25000"/>
            </a:srgbClr>
          </a:solidFill>
          <a:ln w="12700">
            <a:solidFill>
              <a:srgbClr val="0F717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82880"/>
            <a:ext cx="1371600" cy="1371600"/>
          </a:xfrm>
          <a:prstGeom prst="ellipse">
            <a:avLst/>
          </a:prstGeom>
          <a:solidFill>
            <a:srgbClr val="00C2A0">
              <a:alpha val="20000"/>
            </a:srgbClr>
          </a:solidFill>
          <a:ln w="12700">
            <a:solidFill>
              <a:srgbClr val="00C2A0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7173"/>
                </a:solidFill>
              </a:rPr>
              <a:t>DATA MINING &amp; MACHINE LEARNING — NCI MSC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Early Prediction of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Deadlock-Like Conditions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in Distributed Systems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6DF"/>
                </a:solidFill>
              </a:rPr>
              <a:t>A Machine Learning Approach Using Runtime Execution Behaviour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794760"/>
            <a:ext cx="3200400" cy="36576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</a:rPr>
              <a:t>Hari Krishnan M R   |   Data Analytics | Google Cluster Trace 2011   |   May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434840"/>
            <a:ext cx="192024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4453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A0"/>
                </a:solidFill>
              </a:rPr>
              <a:t>1.83M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Task Events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4434840"/>
            <a:ext cx="192024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4453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A0"/>
                </a:solidFill>
              </a:rPr>
              <a:t>300K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Labelled Tasks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4434840"/>
            <a:ext cx="192024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4453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A0"/>
                </a:solidFill>
              </a:rPr>
              <a:t>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Novel Features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49440" y="4434840"/>
            <a:ext cx="192024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4453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A0"/>
                </a:solidFill>
              </a:rPr>
              <a:t>0.969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Best ROC-AUC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PROBLEM STATEMENT &amp; RESEARCH QUESTIONS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30352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91440" cy="19202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4855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Deadlock-like conditions</a:t>
            </a:r>
            <a:r>
              <a:rPr lang="en-US" sz="1300" dirty="0">
                <a:solidFill>
                  <a:srgbClr val="C9D6DF"/>
                </a:solidFill>
              </a:rPr>
              <a:t> in distributed systems cause cascading failures, wasted resources, and service outages.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9D6DF"/>
                </a:solidFill>
              </a:rPr>
              <a:t>Traditional approaches only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84855"/>
                </a:solidFill>
              </a:rPr>
              <a:t>detect failures AFTER they occur</a:t>
            </a:r>
            <a:r>
              <a:rPr lang="en-US" sz="1300" dirty="0">
                <a:solidFill>
                  <a:srgbClr val="C9D6DF"/>
                </a:solidFill>
              </a:rPr>
              <a:t> — leaving no opportunity for proactive intervention.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868680"/>
            <a:ext cx="3017520" cy="19202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5943600" y="914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 APPROACH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123444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Predict deadlock-like conditions BEFORE failure using runtime ML features from cluster traces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1B2A"/>
                </a:solidFill>
              </a:rPr>
              <a:t>RESEARCH QUESTIONS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29184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291840"/>
            <a:ext cx="2743200" cy="3474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291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RQ1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675888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5"/>
                </a:solidFill>
              </a:rPr>
              <a:t>Can runtime execution-behaviour features predict deadlock-like conditions before failure occurs?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18688" y="329184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3291840"/>
            <a:ext cx="2743200" cy="3474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3291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RQ2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3675888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5"/>
                </a:solidFill>
              </a:rPr>
              <a:t>Which runtime features most strongly influence deadlock-risk prediction?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63056" y="329184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3291840"/>
            <a:ext cx="2743200" cy="3474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3291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RQ3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54496" y="3675888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35"/>
                </a:solidFill>
              </a:rPr>
              <a:t>How does ML-based prediction compare to traditional detection-based approaches?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DATASET — GOOGLE CLUSTER TRACE 2011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65960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A0"/>
                </a:solidFill>
              </a:rPr>
              <a:t>1.83M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Raw Event Rows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8470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10 of 500 trace parts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868680"/>
            <a:ext cx="1965960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921173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A0"/>
                </a:solidFill>
              </a:rPr>
              <a:t>300K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50592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Labelled Tasks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50592" y="18470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Terminal events only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868680"/>
            <a:ext cx="1965960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914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A0"/>
                </a:solidFill>
              </a:rPr>
              <a:t>12,509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Machines Tracked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18470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Across the cluster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868680"/>
            <a:ext cx="1965960" cy="146304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914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A0"/>
                </a:solidFill>
              </a:rPr>
              <a:t>3.17:1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03136" y="15727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 Ratio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03136" y="18470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</a:rPr>
              <a:t>Normal : Deadlock-like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303520" cy="2331720"/>
          </a:xfrm>
          <a:prstGeom prst="rect">
            <a:avLst/>
          </a:prstGeom>
          <a:solidFill>
            <a:srgbClr val="162032"/>
          </a:solidFill>
          <a:ln w="19050">
            <a:solidFill>
              <a:srgbClr val="E848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2560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4855"/>
                </a:solidFill>
              </a:rPr>
              <a:t>LABEL DEFINITION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DF"/>
                </a:solidFill>
              </a:rPr>
              <a:t>A task is labelled as Deadlock-Like (label=1) if its final event is: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1097280" cy="2926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91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 (3)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DF"/>
                </a:solidFill>
              </a:rPr>
              <a:t>Task crashed — resource contention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749040"/>
            <a:ext cx="1097280" cy="2926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49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KILL (5)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54480" y="3767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DF"/>
                </a:solidFill>
              </a:rPr>
              <a:t>Forcibly terminated — system overload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06240"/>
            <a:ext cx="1097280" cy="2926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206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EVICT (2)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54480" y="4224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DF"/>
                </a:solidFill>
              </a:rPr>
              <a:t>Removed due to resource pressure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52160" y="2514600"/>
            <a:ext cx="3017520" cy="233172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43600" y="2560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173"/>
                </a:solidFill>
              </a:rPr>
              <a:t>CLASS DISTRIBUTION</a:t>
            </a:r>
            <a:endParaRPr lang="en-US" sz="1100" dirty="0"/>
          </a:p>
        </p:txBody>
      </p:sp>
      <p:graphicFrame>
        <p:nvGraphicFramePr>
          <p:cNvPr id="34" name="Chart 0"/>
          <p:cNvGraphicFramePr/>
          <p:nvPr/>
        </p:nvGraphicFramePr>
        <p:xfrm>
          <a:off x="5852160" y="2834640"/>
          <a:ext cx="30175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FEATURE ENGINEERING — 12 PREDICTORS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6DF"/>
                </a:solidFill>
              </a:rPr>
              <a:t>GROUP A — RAW FEATURES  (Baseline)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393192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9D6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44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scheduling_class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Latency sensitivity (0-3)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901952"/>
            <a:ext cx="393192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9D6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20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1488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Task importance (0-10)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478024"/>
            <a:ext cx="393192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9D6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96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cpu_requested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7249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Normalised CPU request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054096"/>
            <a:ext cx="393192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9D6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723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memory_requested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3009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Normalised RAM request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630168"/>
            <a:ext cx="393192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9D6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6484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disk_requested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8770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Normalised disk request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4206240"/>
            <a:ext cx="393192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9D6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245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different_machine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4531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Placement constraint (0/1)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822960"/>
            <a:ext cx="42976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822960"/>
            <a:ext cx="4297680" cy="41148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 B — NOVEL FEATURES  ★ Contribution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1325880"/>
            <a:ext cx="420624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9D6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3441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scheduling_delay_sec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15727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Submit→Schedule time (contention signal)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1901952"/>
            <a:ext cx="4206240" cy="502920"/>
          </a:xfrm>
          <a:prstGeom prst="rect">
            <a:avLst/>
          </a:prstGeom>
          <a:solidFill>
            <a:srgbClr val="FFF3E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9202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execution_duration_sec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21488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Duration until final event ★ RANK #1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2478024"/>
            <a:ext cx="420624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9D6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4963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machine_failure_rate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09160" y="27249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Historical machine reliability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3054096"/>
            <a:ext cx="420624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9D6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0723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concurrency_density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9160" y="33009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Co-scheduled tasks per 300s window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3630168"/>
            <a:ext cx="420624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9D6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64845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resource_overcommit_ratio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38770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CPU request vs machine average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17720" y="4206240"/>
            <a:ext cx="420624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9D6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42245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priority_inversion_flag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09160" y="44531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Priority gap — inversion severity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MODELS &amp; METHODOLOGY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2926080"/>
          </a:xfrm>
          <a:prstGeom prst="rect">
            <a:avLst/>
          </a:prstGeom>
          <a:solidFill>
            <a:srgbClr val="162032"/>
          </a:solidFill>
          <a:ln w="19050">
            <a:solidFill>
              <a:srgbClr val="C9D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411480"/>
          </a:xfrm>
          <a:prstGeom prst="rect">
            <a:avLst/>
          </a:prstGeom>
          <a:solidFill>
            <a:srgbClr val="C9D6DF"/>
          </a:solidFill>
          <a:ln w="12700">
            <a:solidFill>
              <a:srgbClr val="C9D6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535"/>
                </a:solidFill>
              </a:rPr>
              <a:t>Baseline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Logistic Regression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Linear classifier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579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Clean minimum baseline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968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Feature coefficients show direction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0358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class_weight='balanced'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822960"/>
            <a:ext cx="2743200" cy="2926080"/>
          </a:xfrm>
          <a:prstGeom prst="rect">
            <a:avLst/>
          </a:prstGeom>
          <a:solidFill>
            <a:srgbClr val="162032"/>
          </a:solidFill>
          <a:ln w="1905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822960"/>
            <a:ext cx="2743200" cy="41148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822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Baseline 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298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10128" y="17190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100 decision trees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21579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Non-linear relationships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25968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Built-in feature importance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30358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Handles multicollinearity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63056" y="822960"/>
            <a:ext cx="2743200" cy="2926080"/>
          </a:xfrm>
          <a:prstGeom prst="rect">
            <a:avLst/>
          </a:prstGeom>
          <a:solidFill>
            <a:srgbClr val="162032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822960"/>
            <a:ext cx="274320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822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Strong Model 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54496" y="1298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XGBoost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54496" y="17190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Gradient boosting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54496" y="21579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Sequential tree correction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54496" y="25968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scale_pos_weight for imbalance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54496" y="30358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Best performance overall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886200"/>
            <a:ext cx="859536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173"/>
                </a:solidFill>
              </a:rPr>
              <a:t>EVALUATION PROTOCOL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61104"/>
            <a:ext cx="201168" cy="201168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251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F"/>
                </a:solidFill>
              </a:rPr>
              <a:t>80/20 Stratified Split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76272" y="4261104"/>
            <a:ext cx="201168" cy="201168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32304" y="4251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F"/>
                </a:solidFill>
              </a:rPr>
              <a:t>5-Fold Cross Validation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95344" y="4261104"/>
            <a:ext cx="201168" cy="201168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51376" y="4251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F"/>
                </a:solidFill>
              </a:rPr>
              <a:t>Paired t-test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14416" y="4261104"/>
            <a:ext cx="201168" cy="201168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0448" y="4251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F"/>
                </a:solidFill>
              </a:rPr>
              <a:t>Ablation Study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33488" y="4261104"/>
            <a:ext cx="201168" cy="201168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4251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F"/>
                </a:solidFill>
              </a:rPr>
              <a:t>Metrics: F1 + ROC-AUC + Precision + Recall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RESULTS — ALL 6 MODEL CONFIGURATIONS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332841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 Score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LR — Raw Only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61.7%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0.339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0.627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0.440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0.692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LR — All Features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65.3%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0.368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0.627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0.464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0.730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RF — Raw Only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87.5%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0.717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0.792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0.753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0.913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RF — All Features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89.8%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0.769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0.820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0.793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0.957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XGB — Raw Only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89.5%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0.788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0.767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0.778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35"/>
                          </a:solidFill>
                        </a:rPr>
                        <a:t>0.914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6B2E"/>
                          </a:solidFill>
                        </a:rPr>
                        <a:t>XGB — All Features 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6B2E"/>
                          </a:solidFill>
                        </a:rPr>
                        <a:t>91.6%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6B2E"/>
                          </a:solidFill>
                        </a:rPr>
                        <a:t>0.807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6B2E"/>
                          </a:solidFill>
                        </a:rPr>
                        <a:t>0.854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6B2E"/>
                          </a:solidFill>
                        </a:rPr>
                        <a:t>0.830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6B2E"/>
                          </a:solidFill>
                        </a:rPr>
                        <a:t>0.969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51960"/>
            <a:ext cx="2697480" cy="731520"/>
          </a:xfrm>
          <a:prstGeom prst="rect">
            <a:avLst/>
          </a:prstGeom>
          <a:solidFill>
            <a:srgbClr val="0D1B2A"/>
          </a:solidFill>
          <a:ln w="1905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42793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F1 Improvement</a:t>
            </a:r>
            <a:endParaRPr lang="en-US" sz="1000" dirty="0"/>
          </a:p>
        </p:txBody>
      </p:sp>
      <p:sp>
        <p:nvSpPr>
          <p:cNvPr id="4" name="Text 4"/>
          <p:cNvSpPr/>
          <p:nvPr/>
        </p:nvSpPr>
        <p:spPr>
          <a:xfrm>
            <a:off x="365760" y="4489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173"/>
                </a:solidFill>
              </a:rPr>
              <a:t>+88.2%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37360" y="4526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LR Raw → XGB All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54680" y="4251960"/>
            <a:ext cx="2697480" cy="731520"/>
          </a:xfrm>
          <a:prstGeom prst="rect">
            <a:avLst/>
          </a:prstGeom>
          <a:solidFill>
            <a:srgbClr val="0D1B2A"/>
          </a:solidFill>
          <a:ln w="1905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46120" y="42793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AUC Improvement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46120" y="4489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173"/>
                </a:solidFill>
              </a:rPr>
              <a:t>+40.1%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617720" y="4526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LR Raw → XGB All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4251960"/>
            <a:ext cx="2697480" cy="731520"/>
          </a:xfrm>
          <a:prstGeom prst="rect">
            <a:avLst/>
          </a:prstGeom>
          <a:solidFill>
            <a:srgbClr val="0D1B2A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42793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Novel Feature Boost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26480" y="4489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</a:rPr>
              <a:t>+6.7% F1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498080" y="4526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</a:rPr>
              <a:t>XGB Raw → XGB All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ABLATION STUDY — PROVING NOVEL FEATURE CONTRIBUTION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6DF"/>
                </a:solidFill>
              </a:rPr>
              <a:t>Each novel feature removed one at a time — measuring F1 drop on XGBoost All Features (baseline F1 = 0.830)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97280"/>
            <a:ext cx="2880360" cy="114300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097280"/>
            <a:ext cx="73152" cy="11430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44768" y="114300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0"/>
                </a:solidFill>
              </a:rPr>
              <a:t>★ Dominant Feature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44768" y="1417320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F"/>
                </a:solidFill>
              </a:rPr>
              <a:t>execution_duration_sec causes 5.9% F1 drop when removed — the single most important predictor across ALL models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89320" y="2359152"/>
            <a:ext cx="2880360" cy="114300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89320" y="2359152"/>
            <a:ext cx="73152" cy="11430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44768" y="24048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0"/>
                </a:solidFill>
              </a:rPr>
              <a:t>ALL Features Positive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2679192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F"/>
                </a:solidFill>
              </a:rPr>
              <a:t>With 10-part dataset, every single novel feature shows positive contribution. None subtract value.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0" y="3621024"/>
            <a:ext cx="2880360" cy="114300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89320" y="3621024"/>
            <a:ext cx="73152" cy="11430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44768" y="36667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0"/>
                </a:solidFill>
              </a:rPr>
              <a:t>Isolated Contribution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44768" y="3941064"/>
            <a:ext cx="2633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DF"/>
                </a:solidFill>
              </a:rPr>
              <a:t>Ablation proves each feature independently contributes — ruling out correlation or redundancy effects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STATISTICAL VALIDATION — CROSS VALIDATION &amp; SIGNIFICANCE TESTS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035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303520" cy="41148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5-FOLD STRATIFIED CROSS VALIDATION — XGBoost All Features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377440" cy="1097280"/>
          </a:xfrm>
          <a:prstGeom prst="rect">
            <a:avLst/>
          </a:prstGeom>
          <a:solidFill>
            <a:srgbClr val="F0F4F8"/>
          </a:solidFill>
          <a:ln w="1905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F1 Score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173"/>
                </a:solidFill>
              </a:rPr>
              <a:t>0.8319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</a:rPr>
              <a:t>±0.0024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63240" y="1371600"/>
            <a:ext cx="2377440" cy="1097280"/>
          </a:xfrm>
          <a:prstGeom prst="rect">
            <a:avLst/>
          </a:prstGeom>
          <a:solidFill>
            <a:srgbClr val="F0F4F8"/>
          </a:solidFill>
          <a:ln w="19050">
            <a:solidFill>
              <a:srgbClr val="00C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5468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ROC-AUC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5468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A0"/>
                </a:solidFill>
              </a:rPr>
              <a:t>0.9687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154680" y="21214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</a:rPr>
              <a:t>±0.0020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2377440" cy="1097280"/>
          </a:xfrm>
          <a:prstGeom prst="rect">
            <a:avLst/>
          </a:prstGeom>
          <a:solidFill>
            <a:srgbClr val="F0F4F8"/>
          </a:solidFill>
          <a:ln w="1905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</a:rPr>
              <a:t>0.8090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" y="34015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</a:rPr>
              <a:t>±0.0048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63240" y="2651760"/>
            <a:ext cx="2377440" cy="1097280"/>
          </a:xfrm>
          <a:prstGeom prst="rect">
            <a:avLst/>
          </a:prstGeom>
          <a:solidFill>
            <a:srgbClr val="F0F4F8"/>
          </a:solidFill>
          <a:ln w="19050">
            <a:solidFill>
              <a:srgbClr val="E848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5468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Recall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5468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4855"/>
                </a:solidFill>
              </a:rPr>
              <a:t>0.8562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154680" y="34015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</a:rPr>
              <a:t>±0.0045</a:t>
            </a:r>
            <a:endParaRPr lang="en-US" sz="12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274320" y="3840480"/>
          <a:ext cx="530352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5806440" y="822960"/>
            <a:ext cx="3063240" cy="41148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C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06440" y="822960"/>
            <a:ext cx="3063240" cy="411480"/>
          </a:xfrm>
          <a:prstGeom prst="rect">
            <a:avLst/>
          </a:prstGeom>
          <a:solidFill>
            <a:srgbClr val="00C2A0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97880" y="822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1B2A"/>
                </a:solidFill>
              </a:rPr>
              <a:t>PAIRED t-TEST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97880" y="13258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DF"/>
                </a:solidFill>
              </a:rPr>
              <a:t>XGBoost All Features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6DF"/>
                </a:solidFill>
              </a:rPr>
              <a:t>vs LR Raw Baseline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897880" y="1920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A0"/>
                </a:solidFill>
              </a:rPr>
              <a:t>t = 244.14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5897880" y="2423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</a:rPr>
              <a:t>p &lt; 0.000001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5897880" y="2880360"/>
            <a:ext cx="2743200" cy="457200"/>
          </a:xfrm>
          <a:prstGeom prst="rect">
            <a:avLst/>
          </a:prstGeom>
          <a:solidFill>
            <a:srgbClr val="00C2A0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97880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D1B2A"/>
                </a:solidFill>
              </a:rPr>
              <a:t>STATISTICALLY SIGNIFICANT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897880" y="34290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DF"/>
                </a:solidFill>
              </a:rPr>
              <a:t>The XGBoost improvement over LR baseline is not due to chance. Results are reproducible and statistically verified across all 5 folds.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KEY FINDINGS &amp; DISCUSSION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965960"/>
          </a:xfrm>
          <a:prstGeom prst="rect">
            <a:avLst/>
          </a:prstGeom>
          <a:solidFill>
            <a:srgbClr val="162032"/>
          </a:solidFill>
          <a:ln w="190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" cy="1965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63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896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Execution Duration is Dominant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28016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DF"/>
                </a:solidFill>
              </a:rPr>
              <a:t>The novel feature execution_duration_sec ranks #1 by importance in both RF and XGBoost, causing the largest F1 drop (5.9%) when removed. Deadlock-like tasks show bimodal duration — fast kills (median 539s) AND long stalls.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60520" cy="1965960"/>
          </a:xfrm>
          <a:prstGeom prst="rect">
            <a:avLst/>
          </a:prstGeom>
          <a:solidFill>
            <a:srgbClr val="162032"/>
          </a:solidFill>
          <a:ln w="1905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502920" cy="19659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63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896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173"/>
                </a:solidFill>
              </a:rPr>
              <a:t>Novel Features Improve Every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28016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DF"/>
                </a:solidFill>
              </a:rPr>
              <a:t>All 6 novel features show positive contribution with 10-part data. XGBoost F1 improves +6.7%, RF F1 improves +5.4%, and even LR improves +5.4%. Feature quality matters more than model complexity.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60520" cy="196596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502920" cy="1965960"/>
          </a:xfrm>
          <a:prstGeom prst="rect">
            <a:avLst/>
          </a:prstGeom>
          <a:solidFill>
            <a:srgbClr val="00C2A0"/>
          </a:solidFill>
          <a:ln w="12700">
            <a:solidFill>
              <a:srgbClr val="00C2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611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3044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0"/>
                </a:solidFill>
              </a:rPr>
              <a:t>Counterintuitive Resource Finding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42900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DF"/>
                </a:solidFill>
              </a:rPr>
              <a:t>Deadlock-like tasks request more memory on average (0.043 vs 0.024) but have LOWER priority (1.58 vs 1.79). Low-priority tasks get killed when resources are reclaimed — priority dominates resource demand.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160520" cy="1965960"/>
          </a:xfrm>
          <a:prstGeom prst="rect">
            <a:avLst/>
          </a:prstGeom>
          <a:solidFill>
            <a:srgbClr val="162032"/>
          </a:solidFill>
          <a:ln w="19050">
            <a:solidFill>
              <a:srgbClr val="E848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71800"/>
            <a:ext cx="502920" cy="19659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611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3044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855"/>
                </a:solidFill>
              </a:rPr>
              <a:t>Operational Impact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42900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DF"/>
                </a:solidFill>
              </a:rPr>
              <a:t>XGBoost catches 85 of every 100 deadlock-like conditions at a 6.5% false alarm rate. At Google cluster scale (12,509 machines), proactive prediction prevents cascading failures before they propagate.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F7173">
              <a:alpha val="15000"/>
            </a:srgbClr>
          </a:solidFill>
          <a:ln w="12700">
            <a:solidFill>
              <a:srgbClr val="0F717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C2A0">
              <a:alpha val="12000"/>
            </a:srgbClr>
          </a:solidFill>
          <a:ln w="12700">
            <a:solidFill>
              <a:srgbClr val="00C2A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F7173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Early ML-Based Prediction of Deadlock-Like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Conditions is Highly Effective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196596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9019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A0"/>
                </a:solidFill>
              </a:rPr>
              <a:t>0.830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3957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F1 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0"/>
                </a:solidFill>
              </a:rPr>
              <a:t>XGBoost All Features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14600" y="1828800"/>
            <a:ext cx="196596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9019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A0"/>
                </a:solidFill>
              </a:rPr>
              <a:t>0.969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14600" y="23957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ROC-AUC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2633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0"/>
                </a:solidFill>
              </a:rPr>
              <a:t>XGBoost All Features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196596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9019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A0"/>
                </a:solidFill>
              </a:rPr>
              <a:t>85%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63440" y="23957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Failures Caught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633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0"/>
                </a:solidFill>
              </a:rPr>
              <a:t>Proactively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12280" y="1828800"/>
            <a:ext cx="196596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9019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A0"/>
                </a:solidFill>
              </a:rPr>
              <a:t>p&lt;.001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12280" y="23957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t-test Result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12280" y="2633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0"/>
                </a:solidFill>
              </a:rPr>
              <a:t>Statistically significant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7173"/>
                </a:solidFill>
              </a:rPr>
              <a:t>PRIMARY CONTRIBUTIONS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493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Novel deadlock-like condition definition from cluster trace data (FAIL + KILL + EVICT)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Six engineered runtime features — execution_duration_sec ranked #1 by importance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187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Ablation study proves ALL 6 novel features contribute positively with 10-part dataset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5354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9D6DF"/>
                </a:solidFill>
              </a:rPr>
              <a:t>Statistically significant improvement over baseline (t=244.14, p&lt;0.001)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963</Words>
  <Application>Microsoft Office PowerPoint</Application>
  <PresentationFormat>On-screen Show (16:9)</PresentationFormat>
  <Paragraphs>229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Prediction of Deadlock-Like Conditions</dc:title>
  <dc:subject>PptxGenJS Presentation</dc:subject>
  <dc:creator>PptxGenJS</dc:creator>
  <cp:lastModifiedBy>HARI KRISHNAN M R</cp:lastModifiedBy>
  <cp:revision>2</cp:revision>
  <dcterms:created xsi:type="dcterms:W3CDTF">2026-05-04T11:31:55Z</dcterms:created>
  <dcterms:modified xsi:type="dcterms:W3CDTF">2026-05-05T17:28:01Z</dcterms:modified>
</cp:coreProperties>
</file>